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jpeg"/><Relationship Id="rId3" Type="http://schemas.openxmlformats.org/officeDocument/2006/relationships/image" Target="../media/image-2-3.jpeg"/><Relationship Id="rId4" Type="http://schemas.openxmlformats.org/officeDocument/2006/relationships/image" Target="../media/image-2-4.jpeg"/><Relationship Id="rId5" Type="http://schemas.openxmlformats.org/officeDocument/2006/relationships/image" Target="../media/image-2-5.jpe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image" Target="../media/image-3-2.jpe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image" Target="../media/image-5-2.jpeg"/><Relationship Id="rId3" Type="http://schemas.openxmlformats.org/officeDocument/2006/relationships/image" Target="../media/image-5-3.jpe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47A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60720" y="-1188720"/>
            <a:ext cx="4754880" cy="4754880"/>
          </a:xfrm>
          <a:prstGeom prst="ellipse">
            <a:avLst/>
          </a:prstGeom>
          <a:ln w="5080">
            <a:solidFill>
              <a:srgbClr val="FFFFFF">
                <a:alpha val="7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492240" y="-457200"/>
            <a:ext cx="3291840" cy="3291840"/>
          </a:xfrm>
          <a:prstGeom prst="ellipse">
            <a:avLst/>
          </a:prstGeom>
          <a:ln w="5080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51560"/>
            <a:ext cx="7863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90CAF9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PLANTABAL · DEPARTAMENTO SST</a:t>
            </a:r>
            <a:endParaRPr lang="en-US" sz="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298448"/>
            <a:ext cx="786384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88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REPORTE</a:t>
            </a:r>
            <a:endParaRPr lang="en-US" sz="6400" dirty="0"/>
          </a:p>
          <a:p>
            <a:pPr indent="0" marL="0">
              <a:lnSpc>
                <a:spcPct val="88000"/>
              </a:lnSpc>
              <a:buNone/>
            </a:pPr>
            <a:r>
              <a:rPr lang="en-US" sz="64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SEMANAL SST</a:t>
            </a:r>
            <a:endParaRPr lang="en-US" sz="6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816352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spc="200" kern="0" dirty="0">
                <a:solidFill>
                  <a:srgbClr val="90CAF9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SEMANA 36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3273552"/>
            <a:ext cx="7863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0CAF9">
                    <a:alpha val="70000"/>
                  </a:srgbClr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01 – 07 de Septiembre, 2026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40080" y="3730752"/>
            <a:ext cx="196596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40080" y="3730752"/>
            <a:ext cx="1965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MANTENIMIENTO TABLERO SCI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715768" y="3730752"/>
            <a:ext cx="1356970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715768" y="3730752"/>
            <a:ext cx="13569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MOTOBOMBA</a:t>
            </a:r>
            <a:endParaRPr lang="en-US" sz="700" dirty="0"/>
          </a:p>
        </p:txBody>
      </p:sp>
      <p:sp>
        <p:nvSpPr>
          <p:cNvPr id="12" name="Shape 10"/>
          <p:cNvSpPr/>
          <p:nvPr/>
        </p:nvSpPr>
        <p:spPr>
          <a:xfrm>
            <a:off x="4182466" y="3730752"/>
            <a:ext cx="1492301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182466" y="3730752"/>
            <a:ext cx="149230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RESPIRADORES ARMOR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5784494" y="3730752"/>
            <a:ext cx="1830629" cy="219456"/>
          </a:xfrm>
          <a:prstGeom prst="roundRect">
            <a:avLst>
              <a:gd name="adj" fmla="val 50000"/>
            </a:avLst>
          </a:prstGeom>
          <a:solidFill>
            <a:srgbClr val="FFFFFF">
              <a:alpha val="10000"/>
            </a:srgbClr>
          </a:solidFill>
          <a:ln w="6350">
            <a:solidFill>
              <a:srgbClr val="FFFFFF">
                <a:alpha val="20000"/>
              </a:srgbClr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784494" y="3730752"/>
            <a:ext cx="183062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REPOSITORIO EHS DIGITAL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B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Actividad 01 · 05 Septiembre 2026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Mantenimiento Tablero Eléctrico de Control SCI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886968"/>
            <a:ext cx="3163824" cy="201168"/>
          </a:xfrm>
          <a:prstGeom prst="roundRect">
            <a:avLst>
              <a:gd name="adj" fmla="val 18182"/>
            </a:avLst>
          </a:prstGeom>
          <a:solidFill>
            <a:srgbClr val="EBF4FD"/>
          </a:solidFill>
          <a:ln w="6350">
            <a:solidFill>
              <a:srgbClr val="1E88E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365760" y="886968"/>
            <a:ext cx="31638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Ing. Jonathan Cedeño · Electrical Services JC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65760" y="1188720"/>
            <a:ext cx="254203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7" name="Image 0" descr="/tmp/claude-0/-home-user-kewei/9baee1fe-95ec-5175-8c53-515945a03ef9/scratchpad/pptx_build/tablero_3_1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93192" y="1216152"/>
            <a:ext cx="2487168" cy="13167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65760" y="2596896"/>
            <a:ext cx="2542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ELÉCTRICO SCI</a:t>
            </a:r>
            <a:endParaRPr lang="en-US" sz="650" dirty="0"/>
          </a:p>
        </p:txBody>
      </p:sp>
      <p:sp>
        <p:nvSpPr>
          <p:cNvPr id="9" name="Shape 6"/>
          <p:cNvSpPr/>
          <p:nvPr/>
        </p:nvSpPr>
        <p:spPr>
          <a:xfrm>
            <a:off x="3017520" y="1188720"/>
            <a:ext cx="2542032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10" name="Image 1" descr="/tmp/claude-0/-home-user-kewei/9baee1fe-95ec-5175-8c53-515945a03ef9/scratchpad/pptx_build/tablero_3_2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044952" y="1216152"/>
            <a:ext cx="2487168" cy="131673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017520" y="2596896"/>
            <a:ext cx="2542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— ANTES</a:t>
            </a:r>
            <a:endParaRPr lang="en-US" sz="650" dirty="0"/>
          </a:p>
        </p:txBody>
      </p:sp>
      <p:sp>
        <p:nvSpPr>
          <p:cNvPr id="12" name="Shape 8"/>
          <p:cNvSpPr/>
          <p:nvPr/>
        </p:nvSpPr>
        <p:spPr>
          <a:xfrm>
            <a:off x="365760" y="2843784"/>
            <a:ext cx="2542032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13" name="Image 2" descr="/tmp/claude-0/-home-user-kewei/9baee1fe-95ec-5175-8c53-515945a03ef9/scratchpad/pptx_build/tablero_3_3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93192" y="2871216"/>
            <a:ext cx="2487168" cy="1042416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365760" y="3977640"/>
            <a:ext cx="2542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— DESPUÉS</a:t>
            </a:r>
            <a:endParaRPr lang="en-US" sz="650" dirty="0"/>
          </a:p>
        </p:txBody>
      </p:sp>
      <p:sp>
        <p:nvSpPr>
          <p:cNvPr id="15" name="Shape 10"/>
          <p:cNvSpPr/>
          <p:nvPr/>
        </p:nvSpPr>
        <p:spPr>
          <a:xfrm>
            <a:off x="3017520" y="2843784"/>
            <a:ext cx="2542032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16" name="Image 3" descr="/tmp/claude-0/-home-user-kewei/9baee1fe-95ec-5175-8c53-515945a03ef9/scratchpad/pptx_build/tablero_3_4.jpe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044952" y="2871216"/>
            <a:ext cx="2487168" cy="1042416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017520" y="3977640"/>
            <a:ext cx="25420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DURANTE INTERVENCIÓN</a:t>
            </a:r>
            <a:endParaRPr lang="en-US" sz="650" dirty="0"/>
          </a:p>
        </p:txBody>
      </p:sp>
      <p:sp>
        <p:nvSpPr>
          <p:cNvPr id="18" name="Shape 12"/>
          <p:cNvSpPr/>
          <p:nvPr/>
        </p:nvSpPr>
        <p:spPr>
          <a:xfrm>
            <a:off x="5806440" y="1188720"/>
            <a:ext cx="297180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5925312" y="1289304"/>
            <a:ext cx="2734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Hallazgos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925312" y="1545336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6025896" y="1499616"/>
            <a:ext cx="2624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Terminales recalentadas — Bomba 1 y Bomba 2</a:t>
            </a:r>
            <a:endParaRPr lang="en-US" sz="800" dirty="0"/>
          </a:p>
        </p:txBody>
      </p:sp>
      <p:sp>
        <p:nvSpPr>
          <p:cNvPr id="22" name="Shape 16"/>
          <p:cNvSpPr/>
          <p:nvPr/>
        </p:nvSpPr>
        <p:spPr>
          <a:xfrm>
            <a:off x="5925312" y="1728216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6025896" y="1682496"/>
            <a:ext cx="2624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Conectores de manguito sellado dañados</a:t>
            </a:r>
            <a:endParaRPr lang="en-US" sz="800" dirty="0"/>
          </a:p>
        </p:txBody>
      </p:sp>
      <p:sp>
        <p:nvSpPr>
          <p:cNvPr id="24" name="Shape 18"/>
          <p:cNvSpPr/>
          <p:nvPr/>
        </p:nvSpPr>
        <p:spPr>
          <a:xfrm>
            <a:off x="5925312" y="1911096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6025896" y="1865376"/>
            <a:ext cx="26243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componentes inspeccionados y normalizados</a:t>
            </a:r>
            <a:endParaRPr lang="en-US" sz="800" dirty="0"/>
          </a:p>
        </p:txBody>
      </p:sp>
      <p:sp>
        <p:nvSpPr>
          <p:cNvPr id="26" name="Shape 20"/>
          <p:cNvSpPr/>
          <p:nvPr/>
        </p:nvSpPr>
        <p:spPr>
          <a:xfrm>
            <a:off x="5925312" y="2084832"/>
            <a:ext cx="2734056" cy="201168"/>
          </a:xfrm>
          <a:prstGeom prst="roundRect">
            <a:avLst>
              <a:gd name="adj" fmla="val 18182"/>
            </a:avLst>
          </a:prstGeom>
          <a:solidFill>
            <a:srgbClr val="E8F5E9"/>
          </a:solidFill>
          <a:ln w="6350">
            <a:solidFill>
              <a:srgbClr val="A5D6A7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5925312" y="2084832"/>
            <a:ext cx="2734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✓  9/9 CONFORME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5806440" y="2322576"/>
            <a:ext cx="2971800" cy="530352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5925312" y="2423160"/>
            <a:ext cx="2734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Próximo mantenimiento</a:t>
            </a:r>
            <a:endParaRPr lang="en-US" sz="1100" dirty="0"/>
          </a:p>
        </p:txBody>
      </p:sp>
      <p:sp>
        <p:nvSpPr>
          <p:cNvPr id="30" name="Text 24"/>
          <p:cNvSpPr txBox="1"/>
          <p:nvPr/>
        </p:nvSpPr>
        <p:spPr>
          <a:xfrm>
            <a:off x="5925312" y="2651760"/>
            <a:ext cx="273405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de marzo de 2027</a:t>
            </a:r>
            <a:endParaRPr lang="en-US" sz="850" dirty="0"/>
          </a:p>
        </p:txBody>
      </p:sp>
      <p:sp>
        <p:nvSpPr>
          <p:cNvPr id="31" name="Shape 25"/>
          <p:cNvSpPr/>
          <p:nvPr/>
        </p:nvSpPr>
        <p:spPr>
          <a:xfrm>
            <a:off x="5806440" y="2889504"/>
            <a:ext cx="2971800" cy="1435608"/>
          </a:xfrm>
          <a:prstGeom prst="roundRect">
            <a:avLst>
              <a:gd name="adj" fmla="val 382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32" name="Text 26"/>
          <p:cNvSpPr txBox="1"/>
          <p:nvPr/>
        </p:nvSpPr>
        <p:spPr>
          <a:xfrm>
            <a:off x="5925312" y="2980944"/>
            <a:ext cx="2734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Bomba inspeccionada</a:t>
            </a:r>
            <a:endParaRPr lang="en-US" sz="1100" dirty="0"/>
          </a:p>
        </p:txBody>
      </p:sp>
      <p:pic>
        <p:nvPicPr>
          <p:cNvPr id="33" name="Image 4" descr="/tmp/claude-0/-home-user-kewei/9baee1fe-95ec-5175-8c53-515945a03ef9/scratchpad/pptx_build/tablero_4_1.jpe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5925312" y="3200400"/>
            <a:ext cx="2734056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Hallazgos · Evidencia fotográfica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Condiciones encontradas en campo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70432"/>
            <a:ext cx="416052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5" name="Image 0" descr="/tmp/claude-0/-home-user-kewei/9baee1fe-95ec-5175-8c53-515945a03ef9/scratchpad/pptx_build/tablero_4_2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93192" y="1197864"/>
            <a:ext cx="4105656" cy="218541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65760" y="3410712"/>
            <a:ext cx="41605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75488" y="351129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Terminales Recalentadas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3730752"/>
            <a:ext cx="39410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Terminales con signos de sobrecalentamiento en Bomba 1 y Bomba 2. Intervenidas y normalizadas. Se reemplazaron terminales y se verificó continuidad.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4617720" y="1170432"/>
            <a:ext cx="4160520" cy="224028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10" name="Image 1" descr="/tmp/claude-0/-home-user-kewei/9baee1fe-95ec-5175-8c53-515945a03ef9/scratchpad/pptx_build/tablero_4_3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45152" y="1197864"/>
            <a:ext cx="4105656" cy="218541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617720" y="3410712"/>
            <a:ext cx="416052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4727448" y="351129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Conector de Manguito Dañado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4727448" y="3730752"/>
            <a:ext cx="394106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Daño térmico visible en el conector. Reemplazo completo para garantizar continuidad eléctrica y seguridad operativa del circuito SCI.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B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Actividad 02 · Frecuencia Semanal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Operacional Semanal — Motobomba SCI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70432"/>
            <a:ext cx="5029200" cy="3657600"/>
          </a:xfrm>
          <a:prstGeom prst="roundRect">
            <a:avLst>
              <a:gd name="adj" fmla="val 1500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5" name="Image 0" descr="/tmp/claude-0/-home-user-kewei/9baee1fe-95ec-5175-8c53-515945a03ef9/scratchpad/pptx_build/fotos_moto/WhatsApp Image 2026-09-08 at 1.22.11 PM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93192" y="1197864"/>
            <a:ext cx="4974336" cy="360273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623560" y="1170432"/>
            <a:ext cx="3154680" cy="192024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742432" y="1271016"/>
            <a:ext cx="2916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Objetivo de la prueba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742432" y="152704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5843016" y="1481328"/>
            <a:ext cx="2807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Verificar arranque automático y manual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5742432" y="170992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843016" y="1664208"/>
            <a:ext cx="2807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presión y caudal operativo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5742432" y="189280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843016" y="1847088"/>
            <a:ext cx="2807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Garantizar disponibilidad ante emergencia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5742432" y="207568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843016" y="2029968"/>
            <a:ext cx="28072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temprana de anomalías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5742432" y="2249424"/>
            <a:ext cx="2916936" cy="201168"/>
          </a:xfrm>
          <a:prstGeom prst="roundRect">
            <a:avLst>
              <a:gd name="adj" fmla="val 18182"/>
            </a:avLst>
          </a:prstGeom>
          <a:solidFill>
            <a:srgbClr val="E8F5E9"/>
          </a:solidFill>
          <a:ln w="6350">
            <a:solidFill>
              <a:srgbClr val="A5D6A7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742432" y="2249424"/>
            <a:ext cx="2916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E7D32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✓  OPERATIVA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623560" y="3145536"/>
            <a:ext cx="3154680" cy="1682496"/>
          </a:xfrm>
          <a:prstGeom prst="roundRect">
            <a:avLst>
              <a:gd name="adj" fmla="val 3261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742432" y="3236976"/>
            <a:ext cx="29169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¿Por qué es crítica?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5742432" y="3456432"/>
            <a:ext cx="2916936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prueba semanal garantiza que el equipo responderá al 100% ante un evento real. Un SCI inoperativo en emergencia puede tener consecuencias irreversibles para la planta y el personal.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Actividad 03 · Salud Ocupacional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Prueba de Ajuste y Capacitación — Respiradores ARMOR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115568"/>
            <a:ext cx="2633472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5" name="Image 0" descr="/tmp/claude-0/-home-user-kewei/9baee1fe-95ec-5175-8c53-515945a03ef9/scratchpad/pptx_build/fotos_zip/WhatsApp Image 2026-09-08 at 1.17.34 PM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93192" y="1143000"/>
            <a:ext cx="2578608" cy="200253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65760" y="3209544"/>
            <a:ext cx="2633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CAPACITACIÓN AL PERSONAL</a:t>
            </a:r>
            <a:endParaRPr lang="en-US" sz="650" dirty="0"/>
          </a:p>
        </p:txBody>
      </p:sp>
      <p:sp>
        <p:nvSpPr>
          <p:cNvPr id="7" name="Shape 4"/>
          <p:cNvSpPr/>
          <p:nvPr/>
        </p:nvSpPr>
        <p:spPr>
          <a:xfrm>
            <a:off x="3154680" y="1115568"/>
            <a:ext cx="2633472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8" name="Image 1" descr="/tmp/claude-0/-home-user-kewei/9baee1fe-95ec-5175-8c53-515945a03ef9/scratchpad/pptx_build/fotos_zip/WhatsApp Image 2026-09-08 at 1.17.34 PM (1)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182112" y="1143000"/>
            <a:ext cx="2578608" cy="200253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3154680" y="3209544"/>
            <a:ext cx="2633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DE AJUSTE INDIVIDUAL</a:t>
            </a:r>
            <a:endParaRPr lang="en-US" sz="650" dirty="0"/>
          </a:p>
        </p:txBody>
      </p:sp>
      <p:sp>
        <p:nvSpPr>
          <p:cNvPr id="10" name="Shape 6"/>
          <p:cNvSpPr/>
          <p:nvPr/>
        </p:nvSpPr>
        <p:spPr>
          <a:xfrm>
            <a:off x="5943600" y="1115568"/>
            <a:ext cx="2633472" cy="20574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0160">
            <a:solidFill>
              <a:srgbClr val="BBDEFB"/>
            </a:solidFill>
            <a:prstDash val="solid"/>
          </a:ln>
        </p:spPr>
      </p:sp>
      <p:pic>
        <p:nvPicPr>
          <p:cNvPr id="11" name="Image 2" descr="/tmp/claude-0/-home-user-kewei/9baee1fe-95ec-5175-8c53-515945a03ef9/scratchpad/pptx_build/fotos_zip/WhatsApp Image 2026-09-08 at 1.17.34 PM (2).jpe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971032" y="1143000"/>
            <a:ext cx="2578608" cy="2002536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5943600" y="3209544"/>
            <a:ext cx="26334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150" kern="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 EN PLANTA</a:t>
            </a:r>
            <a:endParaRPr lang="en-US" sz="650" dirty="0"/>
          </a:p>
        </p:txBody>
      </p:sp>
      <p:sp>
        <p:nvSpPr>
          <p:cNvPr id="13" name="Shape 8"/>
          <p:cNvSpPr/>
          <p:nvPr/>
        </p:nvSpPr>
        <p:spPr>
          <a:xfrm>
            <a:off x="365760" y="3410712"/>
            <a:ext cx="8412480" cy="1481328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84632" y="3511296"/>
            <a:ext cx="81747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Puntos cubiertos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84632" y="376732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85216" y="3721608"/>
            <a:ext cx="8065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Selección del respirador según tarea · Técnica correcta de colocación</a:t>
            </a:r>
            <a:endParaRPr lang="en-US" sz="800" dirty="0"/>
          </a:p>
        </p:txBody>
      </p:sp>
      <p:sp>
        <p:nvSpPr>
          <p:cNvPr id="17" name="Shape 12"/>
          <p:cNvSpPr/>
          <p:nvPr/>
        </p:nvSpPr>
        <p:spPr>
          <a:xfrm>
            <a:off x="484632" y="395020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585216" y="3904488"/>
            <a:ext cx="8065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de ajuste positiva y negativa · Reconocimiento de vida útil del filtro</a:t>
            </a:r>
            <a:endParaRPr lang="en-US" sz="800" dirty="0"/>
          </a:p>
        </p:txBody>
      </p:sp>
      <p:sp>
        <p:nvSpPr>
          <p:cNvPr id="19" name="Shape 14"/>
          <p:cNvSpPr/>
          <p:nvPr/>
        </p:nvSpPr>
        <p:spPr>
          <a:xfrm>
            <a:off x="484632" y="4133088"/>
            <a:ext cx="54864" cy="54864"/>
          </a:xfrm>
          <a:prstGeom prst="ellipse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85216" y="4087368"/>
            <a:ext cx="8065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Almacenamiento y limpieza del equipo · Marca ARMOR — certificación vigente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B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Gestión Digital · Departamento SST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Repositorio Digital EHS — Plantabal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365760" y="932688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Centralización de herramientas, formatos e inspecciones en plataformas digitales desarrolladas internamente.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1298448"/>
            <a:ext cx="2523744" cy="1005840"/>
          </a:xfrm>
          <a:prstGeom prst="roundRect">
            <a:avLst>
              <a:gd name="adj" fmla="val 5455"/>
            </a:avLst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65760" y="1371600"/>
            <a:ext cx="25237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90CAF9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10</a:t>
            </a:r>
            <a:endParaRPr lang="en-US" sz="4200" dirty="0"/>
          </a:p>
        </p:txBody>
      </p:sp>
      <p:sp>
        <p:nvSpPr>
          <p:cNvPr id="7" name="Text 5"/>
          <p:cNvSpPr txBox="1"/>
          <p:nvPr/>
        </p:nvSpPr>
        <p:spPr>
          <a:xfrm>
            <a:off x="365760" y="1901952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>
                    <a:alpha val="85000"/>
                  </a:srgbClr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APPS ACTIVAS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035808" y="1298448"/>
            <a:ext cx="2523744" cy="1005840"/>
          </a:xfrm>
          <a:prstGeom prst="roundRect">
            <a:avLst>
              <a:gd name="adj" fmla="val 5455"/>
            </a:avLst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035808" y="1371600"/>
            <a:ext cx="25237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90CAF9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7</a:t>
            </a:r>
            <a:endParaRPr lang="en-US" sz="4200" dirty="0"/>
          </a:p>
        </p:txBody>
      </p:sp>
      <p:sp>
        <p:nvSpPr>
          <p:cNvPr id="10" name="Text 8"/>
          <p:cNvSpPr txBox="1"/>
          <p:nvPr/>
        </p:nvSpPr>
        <p:spPr>
          <a:xfrm>
            <a:off x="3035808" y="1901952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>
                    <a:alpha val="85000"/>
                  </a:srgbClr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APPS HTML LOCALES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5705856" y="1298448"/>
            <a:ext cx="2523744" cy="1005840"/>
          </a:xfrm>
          <a:prstGeom prst="roundRect">
            <a:avLst>
              <a:gd name="adj" fmla="val 5455"/>
            </a:avLst>
          </a:prstGeom>
          <a:solidFill>
            <a:srgbClr val="0D47A1"/>
          </a:solidFill>
          <a:ln w="12700">
            <a:solidFill>
              <a:srgbClr val="0D47A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05856" y="1371600"/>
            <a:ext cx="25237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90CAF9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3</a:t>
            </a:r>
            <a:endParaRPr lang="en-US" sz="4200" dirty="0"/>
          </a:p>
        </p:txBody>
      </p:sp>
      <p:sp>
        <p:nvSpPr>
          <p:cNvPr id="13" name="Text 11"/>
          <p:cNvSpPr txBox="1"/>
          <p:nvPr/>
        </p:nvSpPr>
        <p:spPr>
          <a:xfrm>
            <a:off x="5705856" y="1901952"/>
            <a:ext cx="2523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50" kern="0" dirty="0">
                <a:solidFill>
                  <a:srgbClr val="FFFFFF">
                    <a:alpha val="85000"/>
                  </a:srgbClr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APPS EXTERNAS</a:t>
            </a:r>
            <a:endParaRPr lang="en-US" sz="750" dirty="0"/>
          </a:p>
        </p:txBody>
      </p:sp>
      <p:pic>
        <p:nvPicPr>
          <p:cNvPr id="14" name="Image 0" descr="/tmp/claude-0/-home-user-kewei/9baee1fe-95ec-5175-8c53-515945a03ef9/scratchpad/pptx_build/app_index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074920" y="1261872"/>
            <a:ext cx="3703320" cy="3547872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365760" y="2423160"/>
            <a:ext cx="4480560" cy="2377440"/>
          </a:xfrm>
          <a:prstGeom prst="roundRect">
            <a:avLst>
              <a:gd name="adj" fmla="val 2308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84632" y="2523744"/>
            <a:ext cx="42428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Herramientas EHS desarrolladas internamente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84632" y="2807208"/>
            <a:ext cx="424281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Aplicaciones web en GitHub Pages para inspecciones, registros y seguimiento en tiempo real desde cualquier dispositivo.</a:t>
            </a:r>
            <a:endParaRPr lang="en-US" sz="850" dirty="0"/>
          </a:p>
          <a:p>
            <a:pPr indent="0" marL="0">
              <a:lnSpc>
                <a:spcPct val="140000"/>
              </a:lnSpc>
              <a:buNone/>
            </a:pPr>
            <a:endParaRPr lang="en-US" sz="8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Cero costo de infraestructura</a:t>
            </a:r>
            <a:endParaRPr lang="en-US" sz="8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Acceso sin instalación</a:t>
            </a:r>
            <a:endParaRPr lang="en-US" sz="8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Actualizaciones inmediatas</a:t>
            </a:r>
            <a:endParaRPr lang="en-US" sz="8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Evidencia digital trazable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BF4F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Aplicaciones locales · GitHub Pages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Herramientas EHS desarrolladas internamente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56616" y="1115568"/>
            <a:ext cx="2011680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5" name="Image 0" descr="/tmp/claude-0/-home-user-kewei/9baee1fe-95ec-5175-8c53-515945a03ef9/scratchpad/pptx_build/app_inducc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56616" y="1115568"/>
            <a:ext cx="2011680" cy="1371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356616" y="2450592"/>
            <a:ext cx="201168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438912" y="2542032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INDUCCIÓN EHS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438912" y="2752344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Tiempo real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2496312" y="1115568"/>
            <a:ext cx="2011680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10" name="Image 1" descr="/tmp/claude-0/-home-user-kewei/9baee1fe-95ec-5175-8c53-515945a03ef9/scratchpad/pptx_build/app_extintor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496312" y="1115568"/>
            <a:ext cx="2011680" cy="13716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496312" y="2450592"/>
            <a:ext cx="201168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2578608" y="2542032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EXTINTORES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2578608" y="2752344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Inspección</a:t>
            </a:r>
            <a:endParaRPr lang="en-US" sz="700" dirty="0"/>
          </a:p>
        </p:txBody>
      </p:sp>
      <p:sp>
        <p:nvSpPr>
          <p:cNvPr id="14" name="Shape 10"/>
          <p:cNvSpPr/>
          <p:nvPr/>
        </p:nvSpPr>
        <p:spPr>
          <a:xfrm>
            <a:off x="4636008" y="1115568"/>
            <a:ext cx="2011680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15" name="Image 2" descr="/tmp/claude-0/-home-user-kewei/9baee1fe-95ec-5175-8c53-515945a03ef9/scratchpad/pptx_build/app_brigadas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36008" y="1115568"/>
            <a:ext cx="2011680" cy="1371600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4636008" y="2450592"/>
            <a:ext cx="201168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4718304" y="2542032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BRIGADAS</a:t>
            </a:r>
            <a:endParaRPr lang="en-US" sz="900" dirty="0"/>
          </a:p>
        </p:txBody>
      </p:sp>
      <p:sp>
        <p:nvSpPr>
          <p:cNvPr id="18" name="Text 13"/>
          <p:cNvSpPr txBox="1"/>
          <p:nvPr/>
        </p:nvSpPr>
        <p:spPr>
          <a:xfrm>
            <a:off x="4718304" y="2752344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Registro</a:t>
            </a:r>
            <a:endParaRPr lang="en-US" sz="700" dirty="0"/>
          </a:p>
        </p:txBody>
      </p:sp>
      <p:sp>
        <p:nvSpPr>
          <p:cNvPr id="19" name="Shape 14"/>
          <p:cNvSpPr/>
          <p:nvPr/>
        </p:nvSpPr>
        <p:spPr>
          <a:xfrm>
            <a:off x="6775704" y="1115568"/>
            <a:ext cx="2011680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20" name="Image 3" descr="/tmp/claude-0/-home-user-kewei/9baee1fe-95ec-5175-8c53-515945a03ef9/scratchpad/pptx_build/app_iperc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75704" y="1115568"/>
            <a:ext cx="2011680" cy="137160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6775704" y="2450592"/>
            <a:ext cx="201168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2" name="Text 16"/>
          <p:cNvSpPr txBox="1"/>
          <p:nvPr/>
        </p:nvSpPr>
        <p:spPr>
          <a:xfrm>
            <a:off x="6858000" y="2542032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IPERC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6858000" y="2752344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Riesgos</a:t>
            </a:r>
            <a:endParaRPr lang="en-US" sz="700" dirty="0"/>
          </a:p>
        </p:txBody>
      </p:sp>
      <p:sp>
        <p:nvSpPr>
          <p:cNvPr id="24" name="Shape 18"/>
          <p:cNvSpPr/>
          <p:nvPr/>
        </p:nvSpPr>
        <p:spPr>
          <a:xfrm>
            <a:off x="1426464" y="3255264"/>
            <a:ext cx="2011680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25" name="Image 4" descr="/tmp/claude-0/-home-user-kewei/9baee1fe-95ec-5175-8c53-515945a03ef9/scratchpad/pptx_build/app_appp_ambiente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426464" y="3255264"/>
            <a:ext cx="2011680" cy="1371600"/>
          </a:xfrm>
          <a:prstGeom prst="rect">
            <a:avLst/>
          </a:prstGeom>
        </p:spPr>
      </p:pic>
      <p:sp>
        <p:nvSpPr>
          <p:cNvPr id="26" name="Shape 19"/>
          <p:cNvSpPr/>
          <p:nvPr/>
        </p:nvSpPr>
        <p:spPr>
          <a:xfrm>
            <a:off x="1426464" y="4590288"/>
            <a:ext cx="201168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27" name="Text 20"/>
          <p:cNvSpPr txBox="1"/>
          <p:nvPr/>
        </p:nvSpPr>
        <p:spPr>
          <a:xfrm>
            <a:off x="1508760" y="468172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 AMBIENTE</a:t>
            </a:r>
            <a:endParaRPr lang="en-US" sz="900" dirty="0"/>
          </a:p>
        </p:txBody>
      </p:sp>
      <p:sp>
        <p:nvSpPr>
          <p:cNvPr id="28" name="Text 21"/>
          <p:cNvSpPr txBox="1"/>
          <p:nvPr/>
        </p:nvSpPr>
        <p:spPr>
          <a:xfrm>
            <a:off x="1508760" y="4892040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Seguimiento</a:t>
            </a:r>
            <a:endParaRPr lang="en-US" sz="700" dirty="0"/>
          </a:p>
        </p:txBody>
      </p:sp>
      <p:sp>
        <p:nvSpPr>
          <p:cNvPr id="29" name="Shape 22"/>
          <p:cNvSpPr/>
          <p:nvPr/>
        </p:nvSpPr>
        <p:spPr>
          <a:xfrm>
            <a:off x="3566160" y="3255264"/>
            <a:ext cx="2011680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30" name="Image 5" descr="/tmp/claude-0/-home-user-kewei/9baee1fe-95ec-5175-8c53-515945a03ef9/scratchpad/pptx_build/app_inspecciones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3566160" y="3255264"/>
            <a:ext cx="2011680" cy="13716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3566160" y="4590288"/>
            <a:ext cx="201168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2" name="Text 24"/>
          <p:cNvSpPr txBox="1"/>
          <p:nvPr/>
        </p:nvSpPr>
        <p:spPr>
          <a:xfrm>
            <a:off x="3648456" y="468172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INSPECCIONES SST</a:t>
            </a:r>
            <a:endParaRPr lang="en-US" sz="900" dirty="0"/>
          </a:p>
        </p:txBody>
      </p:sp>
      <p:sp>
        <p:nvSpPr>
          <p:cNvPr id="33" name="Text 25"/>
          <p:cNvSpPr txBox="1"/>
          <p:nvPr/>
        </p:nvSpPr>
        <p:spPr>
          <a:xfrm>
            <a:off x="3648456" y="4892040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Campo</a:t>
            </a:r>
            <a:endParaRPr lang="en-US" sz="700" dirty="0"/>
          </a:p>
        </p:txBody>
      </p:sp>
      <p:sp>
        <p:nvSpPr>
          <p:cNvPr id="34" name="Shape 26"/>
          <p:cNvSpPr/>
          <p:nvPr/>
        </p:nvSpPr>
        <p:spPr>
          <a:xfrm>
            <a:off x="5705856" y="3255264"/>
            <a:ext cx="2011680" cy="1993392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pic>
        <p:nvPicPr>
          <p:cNvPr id="35" name="Image 6" descr="/tmp/claude-0/-home-user-kewei/9baee1fe-95ec-5175-8c53-515945a03ef9/scratchpad/pptx_build/app_evalua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5705856" y="3255264"/>
            <a:ext cx="2011680" cy="1371600"/>
          </a:xfrm>
          <a:prstGeom prst="rect">
            <a:avLst/>
          </a:prstGeom>
        </p:spPr>
      </p:pic>
      <p:sp>
        <p:nvSpPr>
          <p:cNvPr id="36" name="Shape 27"/>
          <p:cNvSpPr/>
          <p:nvPr/>
        </p:nvSpPr>
        <p:spPr>
          <a:xfrm>
            <a:off x="5705856" y="4590288"/>
            <a:ext cx="2011680" cy="54864"/>
          </a:xfrm>
          <a:prstGeom prst="rect">
            <a:avLst/>
          </a:prstGeom>
          <a:solidFill>
            <a:srgbClr val="1E88E5"/>
          </a:solidFill>
          <a:ln w="12700">
            <a:solidFill>
              <a:srgbClr val="1E88E5"/>
            </a:solidFill>
            <a:prstDash val="solid"/>
          </a:ln>
        </p:spPr>
      </p:sp>
      <p:sp>
        <p:nvSpPr>
          <p:cNvPr id="37" name="Text 28"/>
          <p:cNvSpPr txBox="1"/>
          <p:nvPr/>
        </p:nvSpPr>
        <p:spPr>
          <a:xfrm>
            <a:off x="5788152" y="4681728"/>
            <a:ext cx="184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5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EVALÚA SST</a:t>
            </a:r>
            <a:endParaRPr lang="en-US" sz="900" dirty="0"/>
          </a:p>
        </p:txBody>
      </p:sp>
      <p:sp>
        <p:nvSpPr>
          <p:cNvPr id="38" name="Text 29"/>
          <p:cNvSpPr txBox="1"/>
          <p:nvPr/>
        </p:nvSpPr>
        <p:spPr>
          <a:xfrm>
            <a:off x="5788152" y="4892040"/>
            <a:ext cx="18470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HTML · Evaluación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65760" y="20116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300" kern="0" dirty="0">
                <a:solidFill>
                  <a:srgbClr val="1E88E5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Apps externas · Google Workspace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365760" y="384048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Aplicaciones Web y Apps Script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365760" y="1207008"/>
            <a:ext cx="8412480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12064" y="1380744"/>
            <a:ext cx="621792" cy="621792"/>
          </a:xfrm>
          <a:prstGeom prst="roundRect">
            <a:avLst>
              <a:gd name="adj" fmla="val 8824"/>
            </a:avLst>
          </a:prstGeom>
          <a:solidFill>
            <a:srgbClr val="EBF4FD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12064" y="1380744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🔍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1280160" y="1335024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Inspecciones SST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280160" y="1572768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Formulario de inspecciones de campo con registro automático en Google Sheets.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693408" y="1554480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BF4FD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693408" y="1554480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APPS SCRIPT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65760" y="2322576"/>
            <a:ext cx="8412480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12064" y="2496312"/>
            <a:ext cx="621792" cy="621792"/>
          </a:xfrm>
          <a:prstGeom prst="roundRect">
            <a:avLst>
              <a:gd name="adj" fmla="val 8824"/>
            </a:avLst>
          </a:prstGeom>
          <a:solidFill>
            <a:srgbClr val="EBF4FD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" y="2496312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📋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450592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Evalúa SST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80160" y="2688336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de conocimientos en seguridad para personal operativo con puntaje automático.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6693408" y="2670048"/>
            <a:ext cx="1078992" cy="237744"/>
          </a:xfrm>
          <a:prstGeom prst="roundRect">
            <a:avLst>
              <a:gd name="adj" fmla="val 50000"/>
            </a:avLst>
          </a:prstGeom>
          <a:solidFill>
            <a:srgbClr val="EBF4FD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93408" y="2670048"/>
            <a:ext cx="10789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APPS SCRIPT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365760" y="3438144"/>
            <a:ext cx="8412480" cy="987552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2064" y="3611880"/>
            <a:ext cx="621792" cy="621792"/>
          </a:xfrm>
          <a:prstGeom prst="roundRect">
            <a:avLst>
              <a:gd name="adj" fmla="val 8824"/>
            </a:avLst>
          </a:prstGeom>
          <a:solidFill>
            <a:srgbClr val="EBF4FD"/>
          </a:solidFill>
          <a:ln w="6350">
            <a:solidFill>
              <a:srgbClr val="BBDEF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2064" y="361188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♻️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3566160"/>
            <a:ext cx="5303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D47A1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Auditoría de Segregación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3803904"/>
            <a:ext cx="6126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de segregación de residuos sólidos y seguimiento de cumplimiento ambiental.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547104" y="3785616"/>
            <a:ext cx="1225296" cy="237744"/>
          </a:xfrm>
          <a:prstGeom prst="roundRect">
            <a:avLst>
              <a:gd name="adj" fmla="val 50000"/>
            </a:avLst>
          </a:prstGeom>
          <a:solidFill>
            <a:srgbClr val="E8F5E9"/>
          </a:solidFill>
          <a:ln w="6350">
            <a:solidFill>
              <a:srgbClr val="A5D6A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47104" y="3785616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E7D32"/>
                </a:solidFill>
                <a:latin typeface="Barlow Condensed" pitchFamily="34" charset="0"/>
                <a:ea typeface="Barlow Condensed" pitchFamily="34" charset="-122"/>
                <a:cs typeface="Barlow Condensed" pitchFamily="34" charset="-120"/>
              </a:rPr>
              <a:t>GOOGLE SHEETS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2026-09-08T20:22:16Z</dcterms:created>
  <dcterms:modified xsi:type="dcterms:W3CDTF">2026-09-08T20:22:16Z</dcterms:modified>
</cp:coreProperties>
</file>